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8" r:id="rId3"/>
    <p:sldId id="257" r:id="rId4"/>
    <p:sldId id="280" r:id="rId5"/>
    <p:sldId id="279" r:id="rId6"/>
    <p:sldId id="259" r:id="rId7"/>
    <p:sldId id="260" r:id="rId8"/>
    <p:sldId id="273" r:id="rId9"/>
    <p:sldId id="274" r:id="rId10"/>
    <p:sldId id="275" r:id="rId11"/>
    <p:sldId id="276" r:id="rId12"/>
    <p:sldId id="277" r:id="rId13"/>
    <p:sldId id="281" r:id="rId14"/>
    <p:sldId id="284" r:id="rId15"/>
    <p:sldId id="282" r:id="rId16"/>
    <p:sldId id="283" r:id="rId17"/>
  </p:sldIdLst>
  <p:sldSz cx="14630400" cy="8229600"/>
  <p:notesSz cx="8229600" cy="14630400"/>
  <p:embeddedFontLs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1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BFC5A-2B8A-0B2C-D0FD-519C21DD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9C46C-5646-3EB8-E8AA-073B85403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1250-B0C3-EBA9-4FAE-F5C03E7C3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815A9-7FE2-6004-B37D-F08B51ED8B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2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08000-C04E-51EF-1659-14DC65A5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07950-CAAA-81EB-0E90-5FE4E9C91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E2577-BE5F-3CD7-9221-7C0A5DD28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E8E93-1E0F-2FC9-B4B1-FC270851A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94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60709-AB2B-4936-9090-EE1D5692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3EA6D-3EC2-A4FC-F2AE-A56932A60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9EEFC-C6FB-61EE-EBB8-CE50BF14A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A89A8-7CC9-3832-3452-4F6F4B9486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73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767C5-4756-7A47-1DA7-E95784AA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2D31D-B5FB-DB73-871E-40494C88F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14AA6-CF7E-3290-64CE-0C2DC3270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8E290-C389-6824-BFD4-20BD47E86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31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1B1B-4E98-D32E-7B71-0DFEDD77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1A2C6-E2C8-C1CF-DEA4-471C4CE8C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F8498-D64D-7C6E-4766-94B583FB1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58071-3530-1102-6864-455D13DB9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9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5D96C0-3E52-16A9-1C43-745D279A42BC}"/>
              </a:ext>
            </a:extLst>
          </p:cNvPr>
          <p:cNvSpPr/>
          <p:nvPr/>
        </p:nvSpPr>
        <p:spPr>
          <a:xfrm>
            <a:off x="0" y="1"/>
            <a:ext cx="14629765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 noProof="0" dirty="0"/>
          </a:p>
        </p:txBody>
      </p:sp>
      <p:sp>
        <p:nvSpPr>
          <p:cNvPr id="4" name="Text 1"/>
          <p:cNvSpPr/>
          <p:nvPr/>
        </p:nvSpPr>
        <p:spPr>
          <a:xfrm>
            <a:off x="763310" y="2829699"/>
            <a:ext cx="13042821" cy="1356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Aft>
                <a:spcPts val="689"/>
              </a:spcAft>
            </a:pP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Xây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dựng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framework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kiểm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thử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tự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động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cho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hệ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thống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quản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lý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nhân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sự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OrangeHRM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800" b="1" dirty="0" err="1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bằng</a:t>
            </a:r>
            <a:r>
              <a:rPr lang="en-US" sz="3800" b="1" dirty="0">
                <a:solidFill>
                  <a:srgbClr val="1F569E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Selenium</a:t>
            </a:r>
            <a:endParaRPr lang="en-US" sz="3800" dirty="0">
              <a:solidFill>
                <a:srgbClr val="1F569E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3310" y="4698443"/>
            <a:ext cx="6407944" cy="2865715"/>
          </a:xfrm>
          <a:prstGeom prst="roundRect">
            <a:avLst>
              <a:gd name="adj" fmla="val 3324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084" y="5946577"/>
            <a:ext cx="5893356" cy="294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ea typeface="Montserrat" pitchFamily="34" charset="-122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28548" y="4698444"/>
            <a:ext cx="6408063" cy="2865715"/>
          </a:xfrm>
          <a:prstGeom prst="roundRect">
            <a:avLst>
              <a:gd name="adj" fmla="val 3324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7" name="Text Box 16"/>
          <p:cNvSpPr txBox="1"/>
          <p:nvPr/>
        </p:nvSpPr>
        <p:spPr>
          <a:xfrm>
            <a:off x="12764135" y="7760970"/>
            <a:ext cx="1865630" cy="368300"/>
          </a:xfrm>
          <a:prstGeom prst="rect">
            <a:avLst/>
          </a:prstGeom>
          <a:solidFill>
            <a:srgbClr val="FDFCF1"/>
          </a:solidFill>
        </p:spPr>
        <p:txBody>
          <a:bodyPr wrap="square" rtlCol="0">
            <a:sp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6DBE0896-4718-0D95-C452-7C1180010DD2}"/>
              </a:ext>
            </a:extLst>
          </p:cNvPr>
          <p:cNvSpPr/>
          <p:nvPr/>
        </p:nvSpPr>
        <p:spPr>
          <a:xfrm>
            <a:off x="7722619" y="5089362"/>
            <a:ext cx="5559147" cy="4238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GVHD:  </a:t>
            </a:r>
            <a:r>
              <a:rPr lang="en-US" sz="2800" dirty="0" err="1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ThS</a:t>
            </a:r>
            <a:r>
              <a:rPr lang="en-US" sz="2800" dirty="0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. Phạm Thị Kim Phượng</a:t>
            </a:r>
          </a:p>
          <a:p>
            <a:pPr marL="0" indent="0" algn="l">
              <a:lnSpc>
                <a:spcPts val="3300"/>
              </a:lnSpc>
              <a:buNone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ea typeface="Marcellus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C9664B0-1F57-E36A-281E-3BDE59DB01A3}"/>
              </a:ext>
            </a:extLst>
          </p:cNvPr>
          <p:cNvSpPr/>
          <p:nvPr/>
        </p:nvSpPr>
        <p:spPr>
          <a:xfrm>
            <a:off x="1102175" y="4880633"/>
            <a:ext cx="5842265" cy="841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Sinh </a:t>
            </a:r>
            <a:r>
              <a:rPr lang="en-US" sz="2800" dirty="0" err="1">
                <a:solidFill>
                  <a:schemeClr val="tx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viên</a:t>
            </a:r>
            <a:r>
              <a:rPr lang="en-US" sz="2800" dirty="0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: Phạm Thị Phương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800" dirty="0" err="1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Mã</a:t>
            </a:r>
            <a:r>
              <a:rPr lang="en-US" sz="2800" dirty="0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sinh</a:t>
            </a:r>
            <a:r>
              <a:rPr lang="en-US" sz="2800" dirty="0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viên</a:t>
            </a:r>
            <a:r>
              <a:rPr lang="en-US" sz="2800" dirty="0"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: 2022606751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49706-EF81-D52B-8F51-420BBE7BF965}"/>
              </a:ext>
            </a:extLst>
          </p:cNvPr>
          <p:cNvSpPr txBox="1"/>
          <p:nvPr/>
        </p:nvSpPr>
        <p:spPr>
          <a:xfrm>
            <a:off x="4461258" y="1804065"/>
            <a:ext cx="5618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ĐỒ ÁN TỐT NGHIỆP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39B590-74A0-CF42-F5F2-F40C883E209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F1D8016-EB6D-4632-5798-048D37237DBC}"/>
              </a:ext>
            </a:extLst>
          </p:cNvPr>
          <p:cNvSpPr txBox="1"/>
          <p:nvPr/>
        </p:nvSpPr>
        <p:spPr>
          <a:xfrm>
            <a:off x="861261" y="3729276"/>
            <a:ext cx="4018499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dirty="0" err="1">
                <a:solidFill>
                  <a:srgbClr val="16458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Nội</a:t>
            </a:r>
            <a:r>
              <a:rPr lang="en-US" sz="7200" b="1" dirty="0">
                <a:solidFill>
                  <a:srgbClr val="16458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 dung</a:t>
            </a: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2D01A039-EE13-F35A-3797-DCBD437D11E4}"/>
              </a:ext>
            </a:extLst>
          </p:cNvPr>
          <p:cNvSpPr/>
          <p:nvPr/>
        </p:nvSpPr>
        <p:spPr>
          <a:xfrm>
            <a:off x="861261" y="4743615"/>
            <a:ext cx="3653730" cy="31443"/>
          </a:xfrm>
          <a:prstGeom prst="line">
            <a:avLst/>
          </a:prstGeom>
          <a:ln w="47625" cap="rnd">
            <a:solidFill>
              <a:srgbClr val="FCB6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0776149-1C9E-6789-6D04-036E8A155878}"/>
              </a:ext>
            </a:extLst>
          </p:cNvPr>
          <p:cNvGrpSpPr/>
          <p:nvPr/>
        </p:nvGrpSpPr>
        <p:grpSpPr>
          <a:xfrm>
            <a:off x="6048732" y="1995942"/>
            <a:ext cx="8242021" cy="4845371"/>
            <a:chOff x="5584270" y="2159871"/>
            <a:chExt cx="11944213" cy="6490212"/>
          </a:xfrm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E599589-13E7-2607-4803-2212EE9B33CE}"/>
                </a:ext>
              </a:extLst>
            </p:cNvPr>
            <p:cNvSpPr/>
            <p:nvPr/>
          </p:nvSpPr>
          <p:spPr>
            <a:xfrm rot="5356107">
              <a:off x="2734299" y="5385418"/>
              <a:ext cx="6490212" cy="39118"/>
            </a:xfrm>
            <a:prstGeom prst="line">
              <a:avLst/>
            </a:prstGeom>
            <a:ln w="47625" cap="rnd">
              <a:solidFill>
                <a:srgbClr val="FCB61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F6795CB0-68F0-0A61-7CF5-77BC6DDC7BD9}"/>
                </a:ext>
              </a:extLst>
            </p:cNvPr>
            <p:cNvSpPr txBox="1"/>
            <p:nvPr/>
          </p:nvSpPr>
          <p:spPr>
            <a:xfrm>
              <a:off x="6830478" y="2558189"/>
              <a:ext cx="7438558" cy="1024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Giới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thiệu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đề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tài</a:t>
              </a:r>
              <a:endParaRPr lang="en-US" sz="4800" dirty="0">
                <a:solidFill>
                  <a:srgbClr val="16458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8" name="TextBox 25">
              <a:extLst>
                <a:ext uri="{FF2B5EF4-FFF2-40B4-BE49-F238E27FC236}">
                  <a16:creationId xmlns:a16="http://schemas.microsoft.com/office/drawing/2014/main" id="{73A74875-741D-4ACA-E6D8-D5CCF6D44689}"/>
                </a:ext>
              </a:extLst>
            </p:cNvPr>
            <p:cNvSpPr txBox="1"/>
            <p:nvPr/>
          </p:nvSpPr>
          <p:spPr>
            <a:xfrm>
              <a:off x="6852729" y="3973123"/>
              <a:ext cx="10675754" cy="10248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Thực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nghiệm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OrangeHRM</a:t>
              </a:r>
              <a:endParaRPr lang="en-US" sz="4800" dirty="0">
                <a:solidFill>
                  <a:srgbClr val="16458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9" name="TextBox 30">
              <a:extLst>
                <a:ext uri="{FF2B5EF4-FFF2-40B4-BE49-F238E27FC236}">
                  <a16:creationId xmlns:a16="http://schemas.microsoft.com/office/drawing/2014/main" id="{F3C4A014-3441-F0D1-6760-A3707D5D6FD0}"/>
                </a:ext>
              </a:extLst>
            </p:cNvPr>
            <p:cNvSpPr txBox="1"/>
            <p:nvPr/>
          </p:nvSpPr>
          <p:spPr>
            <a:xfrm>
              <a:off x="6830478" y="5570687"/>
              <a:ext cx="8961119" cy="782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Kết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quả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đạt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được</a:t>
              </a:r>
              <a:endParaRPr lang="en-US" sz="4800" dirty="0">
                <a:solidFill>
                  <a:srgbClr val="16458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067324C-0BB1-8EC8-8110-32877A8A78AE}"/>
                </a:ext>
              </a:extLst>
            </p:cNvPr>
            <p:cNvSpPr/>
            <p:nvPr/>
          </p:nvSpPr>
          <p:spPr>
            <a:xfrm>
              <a:off x="5584270" y="2695829"/>
              <a:ext cx="705198" cy="569331"/>
            </a:xfrm>
            <a:prstGeom prst="ellipse">
              <a:avLst/>
            </a:prstGeom>
            <a:solidFill>
              <a:srgbClr val="16458C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</a:p>
          </p:txBody>
        </p:sp>
        <p:sp>
          <p:nvSpPr>
            <p:cNvPr id="14" name="TextBox 30">
              <a:extLst>
                <a:ext uri="{FF2B5EF4-FFF2-40B4-BE49-F238E27FC236}">
                  <a16:creationId xmlns:a16="http://schemas.microsoft.com/office/drawing/2014/main" id="{4F04D731-1382-FF96-FD55-B918417F9E19}"/>
                </a:ext>
              </a:extLst>
            </p:cNvPr>
            <p:cNvSpPr txBox="1"/>
            <p:nvPr/>
          </p:nvSpPr>
          <p:spPr>
            <a:xfrm>
              <a:off x="6830478" y="7216801"/>
              <a:ext cx="8961120" cy="782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Hướng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phát</a:t>
              </a:r>
              <a:r>
                <a:rPr lang="en-US" sz="4800" dirty="0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4800" dirty="0" err="1">
                  <a:solidFill>
                    <a:srgbClr val="16458C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triển</a:t>
              </a:r>
              <a:endParaRPr lang="en-US" sz="4800" dirty="0">
                <a:solidFill>
                  <a:srgbClr val="16458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DD25F659-43CF-25F2-A7B3-176061B71AF4}"/>
              </a:ext>
            </a:extLst>
          </p:cNvPr>
          <p:cNvSpPr/>
          <p:nvPr/>
        </p:nvSpPr>
        <p:spPr>
          <a:xfrm>
            <a:off x="6050347" y="3516754"/>
            <a:ext cx="486617" cy="425043"/>
          </a:xfrm>
          <a:prstGeom prst="ellipse">
            <a:avLst/>
          </a:prstGeom>
          <a:solidFill>
            <a:srgbClr val="16458C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7EB7708-EB79-3E0B-B250-6405BBCC105F}"/>
              </a:ext>
            </a:extLst>
          </p:cNvPr>
          <p:cNvSpPr/>
          <p:nvPr/>
        </p:nvSpPr>
        <p:spPr>
          <a:xfrm>
            <a:off x="6078083" y="4747902"/>
            <a:ext cx="486617" cy="425043"/>
          </a:xfrm>
          <a:prstGeom prst="ellipse">
            <a:avLst/>
          </a:prstGeom>
          <a:solidFill>
            <a:srgbClr val="16458C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279FC4-BC3F-76F4-2E04-1C95C3605345}"/>
              </a:ext>
            </a:extLst>
          </p:cNvPr>
          <p:cNvSpPr/>
          <p:nvPr/>
        </p:nvSpPr>
        <p:spPr>
          <a:xfrm>
            <a:off x="6078082" y="6004333"/>
            <a:ext cx="486617" cy="425043"/>
          </a:xfrm>
          <a:prstGeom prst="ellipse">
            <a:avLst/>
          </a:prstGeom>
          <a:solidFill>
            <a:srgbClr val="16458C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141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2C067257-907A-4DB1-EAE1-66225A4DDBAA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42648" y="2858437"/>
            <a:ext cx="3827903" cy="5439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Lý do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chọn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đề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tài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Marcellus" pitchFamily="34" charset="-122"/>
              <a:cs typeface="Arial" panose="020B0604020202020204" pitchFamily="34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12847955" y="7703185"/>
            <a:ext cx="1712595" cy="431800"/>
          </a:xfrm>
          <a:prstGeom prst="rect">
            <a:avLst/>
          </a:prstGeom>
          <a:solidFill>
            <a:srgbClr val="FDFCF1"/>
          </a:solidFill>
        </p:spPr>
        <p:txBody>
          <a:bodyPr wrap="square" rtlCol="0">
            <a:noAutofit/>
          </a:bodyPr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E16C2-3B54-1DCF-CED9-80D13783E565}"/>
              </a:ext>
            </a:extLst>
          </p:cNvPr>
          <p:cNvSpPr txBox="1"/>
          <p:nvPr/>
        </p:nvSpPr>
        <p:spPr>
          <a:xfrm>
            <a:off x="4453395" y="1619607"/>
            <a:ext cx="9894161" cy="3819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</a:rPr>
              <a:t>Tính phức tạp của </a:t>
            </a:r>
            <a:r>
              <a:rPr lang="vi-VN" sz="2600" b="1" dirty="0" err="1">
                <a:solidFill>
                  <a:schemeClr val="accent1">
                    <a:lumMod val="75000"/>
                  </a:schemeClr>
                </a:solidFill>
              </a:rPr>
              <a:t>OrangeHRM</a:t>
            </a: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sz="2600" dirty="0">
                <a:solidFill>
                  <a:schemeClr val="accent1">
                    <a:lumMod val="75000"/>
                  </a:schemeClr>
                </a:solidFill>
              </a:rPr>
              <a:t>Hệ thống nhiều phân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                       </a:t>
            </a:r>
            <a:r>
              <a:rPr lang="vi-VN" sz="2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     </a:t>
            </a:r>
            <a:r>
              <a:rPr lang="vi-VN" sz="2600" dirty="0">
                <a:solidFill>
                  <a:schemeClr val="accent1">
                    <a:lumMod val="75000"/>
                  </a:schemeClr>
                </a:solidFill>
              </a:rPr>
              <a:t>hệ, yêu cầu quản lý dữ liệu chính xác và chặt chẽ. 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</a:rPr>
              <a:t>Hạn chế của </a:t>
            </a:r>
            <a:r>
              <a:rPr lang="vi-VN" sz="2600" b="1" dirty="0" err="1">
                <a:solidFill>
                  <a:schemeClr val="accent1">
                    <a:lumMod val="75000"/>
                  </a:schemeClr>
                </a:solidFill>
              </a:rPr>
              <a:t>Manual</a:t>
            </a: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sz="2600" b="1" dirty="0" err="1">
                <a:solidFill>
                  <a:schemeClr val="accent1">
                    <a:lumMod val="75000"/>
                  </a:schemeClr>
                </a:solidFill>
              </a:rPr>
              <a:t>Testing</a:t>
            </a: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sz="2600" dirty="0">
                <a:solidFill>
                  <a:schemeClr val="accent1">
                    <a:lumMod val="75000"/>
                  </a:schemeClr>
                </a:solidFill>
              </a:rPr>
              <a:t>Tốn thời gian, dễ sai sót và khó kiểm thử lặp lại nhiều lần. 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</a:rPr>
              <a:t>Ưu thế của </a:t>
            </a:r>
            <a:r>
              <a:rPr lang="vi-VN" sz="2600" b="1" dirty="0" err="1">
                <a:solidFill>
                  <a:schemeClr val="accent1">
                    <a:lumMod val="75000"/>
                  </a:schemeClr>
                </a:solidFill>
              </a:rPr>
              <a:t>Selenium</a:t>
            </a: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sz="2600" dirty="0">
                <a:solidFill>
                  <a:schemeClr val="accent1">
                    <a:lumMod val="75000"/>
                  </a:schemeClr>
                </a:solidFill>
              </a:rPr>
              <a:t>Hỗ trợ tự động hóa kiểm thử nhanh chóng trên nhiều trình duyệt và ngôn ngữ.</a:t>
            </a:r>
          </a:p>
          <a:p>
            <a:pPr>
              <a:lnSpc>
                <a:spcPct val="130000"/>
              </a:lnSpc>
            </a:pPr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B26781AA-B66D-1E7F-B7BC-569A4EE53702}"/>
              </a:ext>
            </a:extLst>
          </p:cNvPr>
          <p:cNvSpPr/>
          <p:nvPr/>
        </p:nvSpPr>
        <p:spPr>
          <a:xfrm>
            <a:off x="4282068" y="1929161"/>
            <a:ext cx="0" cy="2687444"/>
          </a:xfrm>
          <a:prstGeom prst="line">
            <a:avLst/>
          </a:prstGeom>
          <a:ln w="47625" cap="rnd">
            <a:solidFill>
              <a:srgbClr val="FCB6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65264B30-1AE3-8A2F-BB1D-535058EEC796}"/>
              </a:ext>
            </a:extLst>
          </p:cNvPr>
          <p:cNvSpPr/>
          <p:nvPr/>
        </p:nvSpPr>
        <p:spPr>
          <a:xfrm>
            <a:off x="1342541" y="5859435"/>
            <a:ext cx="2203548" cy="5439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Mục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tiêu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arcellus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A5DF3D4D-CEAE-B236-D5EA-2C81CD3FD6F6}"/>
              </a:ext>
            </a:extLst>
          </p:cNvPr>
          <p:cNvSpPr/>
          <p:nvPr/>
        </p:nvSpPr>
        <p:spPr>
          <a:xfrm>
            <a:off x="4282068" y="5153023"/>
            <a:ext cx="0" cy="2188583"/>
          </a:xfrm>
          <a:prstGeom prst="line">
            <a:avLst/>
          </a:prstGeom>
          <a:ln w="47625" cap="rnd">
            <a:solidFill>
              <a:srgbClr val="FCB6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22EA86-0B71-3937-94E0-1E4C3105A485}"/>
              </a:ext>
            </a:extLst>
          </p:cNvPr>
          <p:cNvSpPr txBox="1"/>
          <p:nvPr/>
        </p:nvSpPr>
        <p:spPr>
          <a:xfrm>
            <a:off x="4445959" y="5186726"/>
            <a:ext cx="8548591" cy="213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Selenium</a:t>
            </a:r>
          </a:p>
          <a:p>
            <a:pPr>
              <a:lnSpc>
                <a:spcPct val="130000"/>
              </a:lnSpc>
            </a:pP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framework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 case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OrangeHRM</a:t>
            </a:r>
            <a:endParaRPr lang="en-US" sz="2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sz="26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5A2B84-41AE-9D6A-BB83-FD169C0306CC}"/>
              </a:ext>
            </a:extLst>
          </p:cNvPr>
          <p:cNvSpPr txBox="1"/>
          <p:nvPr/>
        </p:nvSpPr>
        <p:spPr>
          <a:xfrm>
            <a:off x="8014447" y="849854"/>
            <a:ext cx="447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Giới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thiệu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đề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tài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BBA623-A4E9-FF99-4EC0-FD3F191A78E1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AF88A-4355-A5FE-9E7D-25550F422A17}"/>
              </a:ext>
            </a:extLst>
          </p:cNvPr>
          <p:cNvSpPr txBox="1"/>
          <p:nvPr/>
        </p:nvSpPr>
        <p:spPr>
          <a:xfrm>
            <a:off x="8014447" y="849854"/>
            <a:ext cx="447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C203B-5AAA-676F-49DB-BF9AE396D22E}"/>
              </a:ext>
            </a:extLst>
          </p:cNvPr>
          <p:cNvSpPr txBox="1"/>
          <p:nvPr/>
        </p:nvSpPr>
        <p:spPr>
          <a:xfrm>
            <a:off x="1117898" y="1983942"/>
            <a:ext cx="705791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5400" b="1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 Bold"/>
              </a:rPr>
              <a:t>Công </a:t>
            </a:r>
            <a:r>
              <a:rPr lang="en-US" sz="5400" b="1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 Bold"/>
              </a:rPr>
              <a:t>cụ</a:t>
            </a:r>
            <a:r>
              <a:rPr lang="en-US" sz="5400" b="1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 Bold"/>
              </a:rPr>
              <a:t> </a:t>
            </a:r>
            <a:r>
              <a:rPr lang="en-US" sz="5400" b="1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 Bold"/>
              </a:rPr>
              <a:t>sử</a:t>
            </a:r>
            <a:r>
              <a:rPr lang="en-US" sz="5400" b="1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 Bold"/>
              </a:rPr>
              <a:t> </a:t>
            </a:r>
            <a:r>
              <a:rPr lang="en-US" sz="5400" b="1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 Bold"/>
              </a:rPr>
              <a:t>dụng</a:t>
            </a:r>
            <a:endParaRPr lang="en-US" sz="5400" b="1" dirty="0">
              <a:solidFill>
                <a:srgbClr val="16458C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Cambria Bold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D1290C-17E6-3034-8CAF-644BA9E716C6}"/>
              </a:ext>
            </a:extLst>
          </p:cNvPr>
          <p:cNvCxnSpPr>
            <a:cxnSpLocks/>
          </p:cNvCxnSpPr>
          <p:nvPr/>
        </p:nvCxnSpPr>
        <p:spPr>
          <a:xfrm>
            <a:off x="974464" y="2076204"/>
            <a:ext cx="0" cy="537092"/>
          </a:xfrm>
          <a:prstGeom prst="line">
            <a:avLst/>
          </a:prstGeom>
          <a:ln w="76200">
            <a:solidFill>
              <a:srgbClr val="FCB6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E6D76F9-6B78-2D88-FBEB-D0634D159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083" y="3171765"/>
            <a:ext cx="2971800" cy="3105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32FAFA-B4D9-F171-7E9D-14C2FB78EA72}"/>
              </a:ext>
            </a:extLst>
          </p:cNvPr>
          <p:cNvSpPr txBox="1"/>
          <p:nvPr/>
        </p:nvSpPr>
        <p:spPr>
          <a:xfrm>
            <a:off x="1501588" y="3029512"/>
            <a:ext cx="7696200" cy="3806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Thư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viện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mã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nguồn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mở</a:t>
            </a:r>
            <a:endParaRPr lang="en-US" sz="33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571500" indent="-5715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Điều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khiển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trình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duyệt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tự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động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qua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ChormeDriver</a:t>
            </a:r>
            <a:endParaRPr lang="en-US" sz="33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571500" indent="-5715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Miễn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phí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cộng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đồng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lớn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tích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hợp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tốt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33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với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Java</a:t>
            </a:r>
          </a:p>
        </p:txBody>
      </p:sp>
    </p:spTree>
    <p:extLst>
      <p:ext uri="{BB962C8B-B14F-4D97-AF65-F5344CB8AC3E}">
        <p14:creationId xmlns:p14="http://schemas.microsoft.com/office/powerpoint/2010/main" val="355696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E9736A6-D898-B02F-2483-CD6B469621E7}"/>
              </a:ext>
            </a:extLst>
          </p:cNvPr>
          <p:cNvGrpSpPr/>
          <p:nvPr/>
        </p:nvGrpSpPr>
        <p:grpSpPr>
          <a:xfrm>
            <a:off x="-3061" y="0"/>
            <a:ext cx="14630400" cy="8229600"/>
            <a:chOff x="0" y="0"/>
            <a:chExt cx="14630400" cy="8229600"/>
          </a:xfrm>
        </p:grpSpPr>
        <p:sp>
          <p:nvSpPr>
            <p:cNvPr id="71" name="Freeform 2">
              <a:extLst>
                <a:ext uri="{FF2B5EF4-FFF2-40B4-BE49-F238E27FC236}">
                  <a16:creationId xmlns:a16="http://schemas.microsoft.com/office/drawing/2014/main" id="{1D8FB8DC-F9F7-2D9F-A444-2326A96CB765}"/>
                </a:ext>
              </a:extLst>
            </p:cNvPr>
            <p:cNvSpPr/>
            <p:nvPr/>
          </p:nvSpPr>
          <p:spPr>
            <a:xfrm>
              <a:off x="0" y="0"/>
              <a:ext cx="14630400" cy="82296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solidFill>
                <a:srgbClr val="002060"/>
              </a:solidFill>
            </a:ln>
          </p:spPr>
          <p:txBody>
            <a:bodyPr/>
            <a:lstStyle/>
            <a:p>
              <a:endParaRPr lang="vi-VN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FCD422F-1296-AFA1-2AFA-9178784877B0}"/>
                </a:ext>
              </a:extLst>
            </p:cNvPr>
            <p:cNvSpPr txBox="1"/>
            <p:nvPr/>
          </p:nvSpPr>
          <p:spPr>
            <a:xfrm>
              <a:off x="8014447" y="849854"/>
              <a:ext cx="4475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</a:rPr>
                <a:t>Giới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</a:rPr>
                <a:t>thiệu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</a:rPr>
                <a:t>đề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</a:rPr>
                <a:t>tài</a:t>
              </a:r>
              <a:endParaRPr 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6B5CFF4-AFCF-1D50-D481-DDF8015A5E4B}"/>
              </a:ext>
            </a:extLst>
          </p:cNvPr>
          <p:cNvGrpSpPr/>
          <p:nvPr/>
        </p:nvGrpSpPr>
        <p:grpSpPr>
          <a:xfrm>
            <a:off x="502091" y="1072013"/>
            <a:ext cx="7702507" cy="1187590"/>
            <a:chOff x="8252935" y="2824414"/>
            <a:chExt cx="10005738" cy="1252286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A843E21-F064-2B5C-30A2-2C4D5960DD0A}"/>
                </a:ext>
              </a:extLst>
            </p:cNvPr>
            <p:cNvSpPr txBox="1"/>
            <p:nvPr/>
          </p:nvSpPr>
          <p:spPr>
            <a:xfrm>
              <a:off x="8503922" y="2824414"/>
              <a:ext cx="9754751" cy="12121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3600" dirty="0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Quy </a:t>
              </a:r>
              <a:r>
                <a:rPr lang="en-US" sz="3600" dirty="0" err="1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trình</a:t>
              </a:r>
              <a:r>
                <a:rPr lang="en-US" sz="3600" dirty="0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3600" dirty="0" err="1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kiểm</a:t>
              </a:r>
              <a:r>
                <a:rPr lang="en-US" sz="3600" dirty="0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3600" dirty="0" err="1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thử</a:t>
              </a:r>
              <a:r>
                <a:rPr lang="en-US" sz="3600" dirty="0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3600" dirty="0" err="1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tự</a:t>
              </a:r>
              <a:r>
                <a:rPr lang="en-US" sz="3600" dirty="0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 </a:t>
              </a:r>
              <a:r>
                <a:rPr lang="en-US" sz="3600" dirty="0" err="1">
                  <a:solidFill>
                    <a:srgbClr val="16458C"/>
                  </a:solidFill>
                  <a:ea typeface="Cambria" panose="02040503050406030204" pitchFamily="18" charset="0"/>
                  <a:cs typeface="Cambria"/>
                  <a:sym typeface="Cambria"/>
                </a:rPr>
                <a:t>động</a:t>
              </a:r>
              <a:endParaRPr lang="en-US" sz="3600" dirty="0">
                <a:solidFill>
                  <a:srgbClr val="16458C"/>
                </a:solidFill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4F019B0-0A6B-70FC-63FD-D4713A5831FE}"/>
                </a:ext>
              </a:extLst>
            </p:cNvPr>
            <p:cNvCxnSpPr>
              <a:cxnSpLocks/>
            </p:cNvCxnSpPr>
            <p:nvPr/>
          </p:nvCxnSpPr>
          <p:spPr>
            <a:xfrm>
              <a:off x="8252935" y="3399092"/>
              <a:ext cx="0" cy="677608"/>
            </a:xfrm>
            <a:prstGeom prst="line">
              <a:avLst/>
            </a:prstGeom>
            <a:ln w="76200">
              <a:solidFill>
                <a:srgbClr val="FCB61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Google Shape;908;p74">
            <a:extLst>
              <a:ext uri="{FF2B5EF4-FFF2-40B4-BE49-F238E27FC236}">
                <a16:creationId xmlns:a16="http://schemas.microsoft.com/office/drawing/2014/main" id="{036D8C33-DBC2-99CE-993D-042BDA330C6D}"/>
              </a:ext>
            </a:extLst>
          </p:cNvPr>
          <p:cNvSpPr txBox="1"/>
          <p:nvPr/>
        </p:nvSpPr>
        <p:spPr>
          <a:xfrm>
            <a:off x="154839" y="2711420"/>
            <a:ext cx="1412100" cy="544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Bước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 1</a:t>
            </a:r>
            <a:endParaRPr sz="2400" b="1" dirty="0">
              <a:solidFill>
                <a:schemeClr val="accent6">
                  <a:lumMod val="75000"/>
                </a:schemeClr>
              </a:solidFill>
              <a:ea typeface="Cambria" panose="02040503050406030204" pitchFamily="18" charset="0"/>
              <a:cs typeface="Abril Fatface" panose="02000503000000020003"/>
              <a:sym typeface="Abril Fatface" panose="02000503000000020003"/>
            </a:endParaRPr>
          </a:p>
        </p:txBody>
      </p:sp>
      <p:sp>
        <p:nvSpPr>
          <p:cNvPr id="76" name="Google Shape;909;p74">
            <a:extLst>
              <a:ext uri="{FF2B5EF4-FFF2-40B4-BE49-F238E27FC236}">
                <a16:creationId xmlns:a16="http://schemas.microsoft.com/office/drawing/2014/main" id="{3786B682-15F8-1EF7-DB97-97D0D6F04BEA}"/>
              </a:ext>
            </a:extLst>
          </p:cNvPr>
          <p:cNvSpPr txBox="1"/>
          <p:nvPr/>
        </p:nvSpPr>
        <p:spPr>
          <a:xfrm>
            <a:off x="-3061" y="4927018"/>
            <a:ext cx="1799223" cy="129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Xác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định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phạm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 vi &amp;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chiến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</a:rPr>
              <a:t>lược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77" name="Google Shape;910;p74">
            <a:extLst>
              <a:ext uri="{FF2B5EF4-FFF2-40B4-BE49-F238E27FC236}">
                <a16:creationId xmlns:a16="http://schemas.microsoft.com/office/drawing/2014/main" id="{AA6401F1-1CD2-0374-2F66-541A90B1BE31}"/>
              </a:ext>
            </a:extLst>
          </p:cNvPr>
          <p:cNvSpPr/>
          <p:nvPr/>
        </p:nvSpPr>
        <p:spPr>
          <a:xfrm>
            <a:off x="484343" y="4610276"/>
            <a:ext cx="428440" cy="47149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2">
                  <a:lumMod val="75000"/>
                </a:schemeClr>
              </a:solidFill>
              <a:highlight>
                <a:srgbClr val="FF00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Google Shape;911;p74">
            <a:extLst>
              <a:ext uri="{FF2B5EF4-FFF2-40B4-BE49-F238E27FC236}">
                <a16:creationId xmlns:a16="http://schemas.microsoft.com/office/drawing/2014/main" id="{087CCD94-9353-6907-340F-615BDF42A4E2}"/>
              </a:ext>
            </a:extLst>
          </p:cNvPr>
          <p:cNvSpPr txBox="1"/>
          <p:nvPr/>
        </p:nvSpPr>
        <p:spPr>
          <a:xfrm>
            <a:off x="1898457" y="3359801"/>
            <a:ext cx="2746275" cy="1471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Thiết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kế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kiến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trúc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Framework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79" name="Google Shape;913;p74">
            <a:extLst>
              <a:ext uri="{FF2B5EF4-FFF2-40B4-BE49-F238E27FC236}">
                <a16:creationId xmlns:a16="http://schemas.microsoft.com/office/drawing/2014/main" id="{BDBFA8F0-CDA1-98E3-7DE8-552C39C0C613}"/>
              </a:ext>
            </a:extLst>
          </p:cNvPr>
          <p:cNvSpPr txBox="1"/>
          <p:nvPr/>
        </p:nvSpPr>
        <p:spPr>
          <a:xfrm>
            <a:off x="5159650" y="2783649"/>
            <a:ext cx="1412100" cy="544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Bước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 3</a:t>
            </a:r>
            <a:endParaRPr sz="2400" b="1" dirty="0">
              <a:solidFill>
                <a:schemeClr val="accent6">
                  <a:lumMod val="75000"/>
                </a:schemeClr>
              </a:solidFill>
              <a:ea typeface="Cambria" panose="02040503050406030204" pitchFamily="18" charset="0"/>
              <a:cs typeface="Abril Fatface" panose="02000503000000020003"/>
              <a:sym typeface="Abril Fatface" panose="02000503000000020003"/>
            </a:endParaRPr>
          </a:p>
        </p:txBody>
      </p:sp>
      <p:sp>
        <p:nvSpPr>
          <p:cNvPr id="80" name="Google Shape;914;p74">
            <a:extLst>
              <a:ext uri="{FF2B5EF4-FFF2-40B4-BE49-F238E27FC236}">
                <a16:creationId xmlns:a16="http://schemas.microsoft.com/office/drawing/2014/main" id="{F0D8F519-9F8E-4641-C500-7A4716CE8699}"/>
              </a:ext>
            </a:extLst>
          </p:cNvPr>
          <p:cNvSpPr txBox="1"/>
          <p:nvPr/>
        </p:nvSpPr>
        <p:spPr>
          <a:xfrm>
            <a:off x="4509455" y="4721406"/>
            <a:ext cx="2905582" cy="169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Thiết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lập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môi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trường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&amp;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cài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đặt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81" name="Google Shape;915;p74">
            <a:extLst>
              <a:ext uri="{FF2B5EF4-FFF2-40B4-BE49-F238E27FC236}">
                <a16:creationId xmlns:a16="http://schemas.microsoft.com/office/drawing/2014/main" id="{26A86E9C-2AC9-2A02-5D6D-EF17D29E9F07}"/>
              </a:ext>
            </a:extLst>
          </p:cNvPr>
          <p:cNvSpPr txBox="1"/>
          <p:nvPr/>
        </p:nvSpPr>
        <p:spPr>
          <a:xfrm>
            <a:off x="7123449" y="3557470"/>
            <a:ext cx="2464514" cy="103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Thiết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kế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&amp;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viết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kịch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bản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82" name="Google Shape;917;p74">
            <a:extLst>
              <a:ext uri="{FF2B5EF4-FFF2-40B4-BE49-F238E27FC236}">
                <a16:creationId xmlns:a16="http://schemas.microsoft.com/office/drawing/2014/main" id="{E1138C0E-9730-E2AF-8DBB-ECDEAF16B96C}"/>
              </a:ext>
            </a:extLst>
          </p:cNvPr>
          <p:cNvSpPr txBox="1"/>
          <p:nvPr/>
        </p:nvSpPr>
        <p:spPr>
          <a:xfrm>
            <a:off x="10320441" y="2711957"/>
            <a:ext cx="1540800" cy="544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Bước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 5</a:t>
            </a:r>
            <a:endParaRPr sz="2400" b="1" dirty="0">
              <a:solidFill>
                <a:schemeClr val="accent6">
                  <a:lumMod val="75000"/>
                </a:schemeClr>
              </a:solidFill>
              <a:ea typeface="Cambria" panose="02040503050406030204" pitchFamily="18" charset="0"/>
              <a:cs typeface="Abril Fatface" panose="02000503000000020003"/>
              <a:sym typeface="Abril Fatface" panose="02000503000000020003"/>
            </a:endParaRPr>
          </a:p>
        </p:txBody>
      </p:sp>
      <p:cxnSp>
        <p:nvCxnSpPr>
          <p:cNvPr id="83" name="Google Shape;926;p74">
            <a:extLst>
              <a:ext uri="{FF2B5EF4-FFF2-40B4-BE49-F238E27FC236}">
                <a16:creationId xmlns:a16="http://schemas.microsoft.com/office/drawing/2014/main" id="{45D48C66-0E47-BD59-9E46-540BF08743F0}"/>
              </a:ext>
            </a:extLst>
          </p:cNvPr>
          <p:cNvCxnSpPr>
            <a:cxnSpLocks/>
          </p:cNvCxnSpPr>
          <p:nvPr/>
        </p:nvCxnSpPr>
        <p:spPr>
          <a:xfrm flipH="1">
            <a:off x="909523" y="4872002"/>
            <a:ext cx="2170558" cy="0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927;p74">
            <a:extLst>
              <a:ext uri="{FF2B5EF4-FFF2-40B4-BE49-F238E27FC236}">
                <a16:creationId xmlns:a16="http://schemas.microsoft.com/office/drawing/2014/main" id="{AB725043-5CA6-80BA-7F10-0FF073339331}"/>
              </a:ext>
            </a:extLst>
          </p:cNvPr>
          <p:cNvCxnSpPr>
            <a:cxnSpLocks/>
            <a:stCxn id="77" idx="0"/>
          </p:cNvCxnSpPr>
          <p:nvPr/>
        </p:nvCxnSpPr>
        <p:spPr>
          <a:xfrm flipH="1" flipV="1">
            <a:off x="692055" y="3417248"/>
            <a:ext cx="6508" cy="1193028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5" name="Google Shape;914;p74">
            <a:extLst>
              <a:ext uri="{FF2B5EF4-FFF2-40B4-BE49-F238E27FC236}">
                <a16:creationId xmlns:a16="http://schemas.microsoft.com/office/drawing/2014/main" id="{28BA2E5D-D655-0876-F237-FA7C93FF0217}"/>
              </a:ext>
            </a:extLst>
          </p:cNvPr>
          <p:cNvSpPr txBox="1"/>
          <p:nvPr/>
        </p:nvSpPr>
        <p:spPr>
          <a:xfrm>
            <a:off x="9738809" y="4588056"/>
            <a:ext cx="3023475" cy="129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Thực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thi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kiểm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thử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86" name="Google Shape;915;p74">
            <a:extLst>
              <a:ext uri="{FF2B5EF4-FFF2-40B4-BE49-F238E27FC236}">
                <a16:creationId xmlns:a16="http://schemas.microsoft.com/office/drawing/2014/main" id="{E32953FA-1414-BB22-810D-A5E63843FF49}"/>
              </a:ext>
            </a:extLst>
          </p:cNvPr>
          <p:cNvSpPr txBox="1"/>
          <p:nvPr/>
        </p:nvSpPr>
        <p:spPr>
          <a:xfrm>
            <a:off x="12148177" y="3437292"/>
            <a:ext cx="2346348" cy="103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Phân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tích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kết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quả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&amp;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báo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a typeface="Cambria" panose="02040503050406030204" pitchFamily="18" charset="0"/>
                <a:cs typeface="Calibri" pitchFamily="34" charset="-120"/>
              </a:rPr>
              <a:t>cáo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87" name="Google Shape;910;p74">
            <a:extLst>
              <a:ext uri="{FF2B5EF4-FFF2-40B4-BE49-F238E27FC236}">
                <a16:creationId xmlns:a16="http://schemas.microsoft.com/office/drawing/2014/main" id="{2EAFF90E-0E8F-B940-ED76-113BA45D2C40}"/>
              </a:ext>
            </a:extLst>
          </p:cNvPr>
          <p:cNvSpPr/>
          <p:nvPr/>
        </p:nvSpPr>
        <p:spPr>
          <a:xfrm>
            <a:off x="3083341" y="4610276"/>
            <a:ext cx="428440" cy="47149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2">
                  <a:lumMod val="75000"/>
                </a:schemeClr>
              </a:solidFill>
              <a:highlight>
                <a:srgbClr val="FF00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8" name="Google Shape;926;p74">
            <a:extLst>
              <a:ext uri="{FF2B5EF4-FFF2-40B4-BE49-F238E27FC236}">
                <a16:creationId xmlns:a16="http://schemas.microsoft.com/office/drawing/2014/main" id="{513B68E1-0928-D75C-1900-EB40F5902A4B}"/>
              </a:ext>
            </a:extLst>
          </p:cNvPr>
          <p:cNvCxnSpPr>
            <a:cxnSpLocks/>
          </p:cNvCxnSpPr>
          <p:nvPr/>
        </p:nvCxnSpPr>
        <p:spPr>
          <a:xfrm flipH="1">
            <a:off x="3508521" y="4871888"/>
            <a:ext cx="2178201" cy="114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910;p74">
            <a:extLst>
              <a:ext uri="{FF2B5EF4-FFF2-40B4-BE49-F238E27FC236}">
                <a16:creationId xmlns:a16="http://schemas.microsoft.com/office/drawing/2014/main" id="{6C3E9F0F-0894-0CD4-5840-D394FDD461B6}"/>
              </a:ext>
            </a:extLst>
          </p:cNvPr>
          <p:cNvSpPr/>
          <p:nvPr/>
        </p:nvSpPr>
        <p:spPr>
          <a:xfrm>
            <a:off x="5689982" y="4610162"/>
            <a:ext cx="428440" cy="47149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2">
                  <a:lumMod val="75000"/>
                </a:schemeClr>
              </a:solidFill>
              <a:highlight>
                <a:srgbClr val="FF00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0" name="Google Shape;926;p74">
            <a:extLst>
              <a:ext uri="{FF2B5EF4-FFF2-40B4-BE49-F238E27FC236}">
                <a16:creationId xmlns:a16="http://schemas.microsoft.com/office/drawing/2014/main" id="{521780ED-4C03-8EC8-B3D4-1E6D3D588CD6}"/>
              </a:ext>
            </a:extLst>
          </p:cNvPr>
          <p:cNvCxnSpPr>
            <a:cxnSpLocks/>
          </p:cNvCxnSpPr>
          <p:nvPr/>
        </p:nvCxnSpPr>
        <p:spPr>
          <a:xfrm flipH="1">
            <a:off x="6115162" y="4854021"/>
            <a:ext cx="2178201" cy="17867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Google Shape;910;p74">
            <a:extLst>
              <a:ext uri="{FF2B5EF4-FFF2-40B4-BE49-F238E27FC236}">
                <a16:creationId xmlns:a16="http://schemas.microsoft.com/office/drawing/2014/main" id="{BA4EF814-C1F7-B6D0-5678-6872DEFF98B2}"/>
              </a:ext>
            </a:extLst>
          </p:cNvPr>
          <p:cNvSpPr/>
          <p:nvPr/>
        </p:nvSpPr>
        <p:spPr>
          <a:xfrm>
            <a:off x="8296623" y="4592295"/>
            <a:ext cx="428440" cy="47149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2">
                  <a:lumMod val="75000"/>
                </a:schemeClr>
              </a:solidFill>
              <a:highlight>
                <a:srgbClr val="FF00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2" name="Google Shape;926;p74">
            <a:extLst>
              <a:ext uri="{FF2B5EF4-FFF2-40B4-BE49-F238E27FC236}">
                <a16:creationId xmlns:a16="http://schemas.microsoft.com/office/drawing/2014/main" id="{38899202-59DC-A4E4-28DA-FAA49F125D25}"/>
              </a:ext>
            </a:extLst>
          </p:cNvPr>
          <p:cNvCxnSpPr>
            <a:cxnSpLocks/>
          </p:cNvCxnSpPr>
          <p:nvPr/>
        </p:nvCxnSpPr>
        <p:spPr>
          <a:xfrm flipH="1">
            <a:off x="8698420" y="4836154"/>
            <a:ext cx="2178201" cy="17867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10;p74">
            <a:extLst>
              <a:ext uri="{FF2B5EF4-FFF2-40B4-BE49-F238E27FC236}">
                <a16:creationId xmlns:a16="http://schemas.microsoft.com/office/drawing/2014/main" id="{92C078A5-AAEE-EC12-6542-D24298A58E05}"/>
              </a:ext>
            </a:extLst>
          </p:cNvPr>
          <p:cNvSpPr/>
          <p:nvPr/>
        </p:nvSpPr>
        <p:spPr>
          <a:xfrm>
            <a:off x="10903264" y="4574428"/>
            <a:ext cx="428440" cy="47149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2">
                  <a:lumMod val="75000"/>
                </a:schemeClr>
              </a:solidFill>
              <a:highlight>
                <a:srgbClr val="FF00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4" name="Google Shape;926;p74">
            <a:extLst>
              <a:ext uri="{FF2B5EF4-FFF2-40B4-BE49-F238E27FC236}">
                <a16:creationId xmlns:a16="http://schemas.microsoft.com/office/drawing/2014/main" id="{5108DEFA-C01F-C90C-06D2-1807DEF83D33}"/>
              </a:ext>
            </a:extLst>
          </p:cNvPr>
          <p:cNvCxnSpPr>
            <a:cxnSpLocks/>
            <a:stCxn id="95" idx="2"/>
            <a:endCxn id="93" idx="6"/>
          </p:cNvCxnSpPr>
          <p:nvPr/>
        </p:nvCxnSpPr>
        <p:spPr>
          <a:xfrm flipH="1">
            <a:off x="11331704" y="4792308"/>
            <a:ext cx="2178201" cy="17867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10;p74">
            <a:extLst>
              <a:ext uri="{FF2B5EF4-FFF2-40B4-BE49-F238E27FC236}">
                <a16:creationId xmlns:a16="http://schemas.microsoft.com/office/drawing/2014/main" id="{C4836038-DACC-8D92-28F2-75A9D38D93BA}"/>
              </a:ext>
            </a:extLst>
          </p:cNvPr>
          <p:cNvSpPr/>
          <p:nvPr/>
        </p:nvSpPr>
        <p:spPr>
          <a:xfrm>
            <a:off x="13509905" y="4556561"/>
            <a:ext cx="428440" cy="47149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2">
                  <a:lumMod val="75000"/>
                </a:schemeClr>
              </a:solidFill>
              <a:highlight>
                <a:srgbClr val="FF00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6" name="Google Shape;927;p74">
            <a:extLst>
              <a:ext uri="{FF2B5EF4-FFF2-40B4-BE49-F238E27FC236}">
                <a16:creationId xmlns:a16="http://schemas.microsoft.com/office/drawing/2014/main" id="{F9F35958-C195-F994-F94E-801852625743}"/>
              </a:ext>
            </a:extLst>
          </p:cNvPr>
          <p:cNvCxnSpPr>
            <a:cxnSpLocks/>
            <a:stCxn id="89" idx="0"/>
          </p:cNvCxnSpPr>
          <p:nvPr/>
        </p:nvCxnSpPr>
        <p:spPr>
          <a:xfrm flipH="1" flipV="1">
            <a:off x="5888828" y="3464391"/>
            <a:ext cx="15374" cy="1145771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7" name="Google Shape;927;p74">
            <a:extLst>
              <a:ext uri="{FF2B5EF4-FFF2-40B4-BE49-F238E27FC236}">
                <a16:creationId xmlns:a16="http://schemas.microsoft.com/office/drawing/2014/main" id="{5AA9E10E-3F8D-5541-4ADC-C71F5B67F7A7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11109656" y="3381244"/>
            <a:ext cx="7828" cy="1193184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8" name="Google Shape;927;p74">
            <a:extLst>
              <a:ext uri="{FF2B5EF4-FFF2-40B4-BE49-F238E27FC236}">
                <a16:creationId xmlns:a16="http://schemas.microsoft.com/office/drawing/2014/main" id="{747B77C1-6615-56D8-76A4-3ACC3900FE65}"/>
              </a:ext>
            </a:extLst>
          </p:cNvPr>
          <p:cNvCxnSpPr>
            <a:cxnSpLocks/>
          </p:cNvCxnSpPr>
          <p:nvPr/>
        </p:nvCxnSpPr>
        <p:spPr>
          <a:xfrm>
            <a:off x="3294301" y="5081655"/>
            <a:ext cx="0" cy="1196225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" name="Google Shape;927;p74">
            <a:extLst>
              <a:ext uri="{FF2B5EF4-FFF2-40B4-BE49-F238E27FC236}">
                <a16:creationId xmlns:a16="http://schemas.microsoft.com/office/drawing/2014/main" id="{995A9F25-F4E9-E050-7CEB-FA37C0249F25}"/>
              </a:ext>
            </a:extLst>
          </p:cNvPr>
          <p:cNvCxnSpPr>
            <a:cxnSpLocks/>
          </p:cNvCxnSpPr>
          <p:nvPr/>
        </p:nvCxnSpPr>
        <p:spPr>
          <a:xfrm>
            <a:off x="8484200" y="5063788"/>
            <a:ext cx="0" cy="1196111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0" name="Google Shape;927;p74">
            <a:extLst>
              <a:ext uri="{FF2B5EF4-FFF2-40B4-BE49-F238E27FC236}">
                <a16:creationId xmlns:a16="http://schemas.microsoft.com/office/drawing/2014/main" id="{4E6D68E2-2F07-6B63-71B9-5FB1D89EA676}"/>
              </a:ext>
            </a:extLst>
          </p:cNvPr>
          <p:cNvCxnSpPr>
            <a:cxnSpLocks/>
            <a:stCxn id="95" idx="4"/>
          </p:cNvCxnSpPr>
          <p:nvPr/>
        </p:nvCxnSpPr>
        <p:spPr>
          <a:xfrm>
            <a:off x="13724125" y="5028054"/>
            <a:ext cx="0" cy="1196111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01" name="Google Shape;908;p74">
            <a:extLst>
              <a:ext uri="{FF2B5EF4-FFF2-40B4-BE49-F238E27FC236}">
                <a16:creationId xmlns:a16="http://schemas.microsoft.com/office/drawing/2014/main" id="{958B3BE7-083E-3BA2-319C-180BBA88AC23}"/>
              </a:ext>
            </a:extLst>
          </p:cNvPr>
          <p:cNvSpPr txBox="1"/>
          <p:nvPr/>
        </p:nvSpPr>
        <p:spPr>
          <a:xfrm>
            <a:off x="2620508" y="6314199"/>
            <a:ext cx="1412100" cy="544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Bước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 2</a:t>
            </a:r>
            <a:endParaRPr sz="2400" b="1" dirty="0">
              <a:solidFill>
                <a:schemeClr val="accent6">
                  <a:lumMod val="75000"/>
                </a:schemeClr>
              </a:solidFill>
              <a:ea typeface="Cambria" panose="02040503050406030204" pitchFamily="18" charset="0"/>
              <a:cs typeface="Abril Fatface" panose="02000503000000020003"/>
              <a:sym typeface="Abril Fatface" panose="02000503000000020003"/>
            </a:endParaRPr>
          </a:p>
        </p:txBody>
      </p:sp>
      <p:sp>
        <p:nvSpPr>
          <p:cNvPr id="102" name="Google Shape;913;p74">
            <a:extLst>
              <a:ext uri="{FF2B5EF4-FFF2-40B4-BE49-F238E27FC236}">
                <a16:creationId xmlns:a16="http://schemas.microsoft.com/office/drawing/2014/main" id="{AA85915F-2065-2171-5514-F2556A95A992}"/>
              </a:ext>
            </a:extLst>
          </p:cNvPr>
          <p:cNvSpPr txBox="1"/>
          <p:nvPr/>
        </p:nvSpPr>
        <p:spPr>
          <a:xfrm>
            <a:off x="7804793" y="6217839"/>
            <a:ext cx="1412100" cy="544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Bước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 4</a:t>
            </a:r>
            <a:endParaRPr sz="2400" b="1" dirty="0">
              <a:solidFill>
                <a:schemeClr val="accent6">
                  <a:lumMod val="75000"/>
                </a:schemeClr>
              </a:solidFill>
              <a:ea typeface="Cambria" panose="02040503050406030204" pitchFamily="18" charset="0"/>
              <a:cs typeface="Abril Fatface" panose="02000503000000020003"/>
              <a:sym typeface="Abril Fatface" panose="02000503000000020003"/>
            </a:endParaRPr>
          </a:p>
        </p:txBody>
      </p:sp>
      <p:sp>
        <p:nvSpPr>
          <p:cNvPr id="103" name="Google Shape;917;p74">
            <a:extLst>
              <a:ext uri="{FF2B5EF4-FFF2-40B4-BE49-F238E27FC236}">
                <a16:creationId xmlns:a16="http://schemas.microsoft.com/office/drawing/2014/main" id="{F4581B34-509D-1745-83EC-218DFB97CBA4}"/>
              </a:ext>
            </a:extLst>
          </p:cNvPr>
          <p:cNvSpPr txBox="1"/>
          <p:nvPr/>
        </p:nvSpPr>
        <p:spPr>
          <a:xfrm>
            <a:off x="12953725" y="6253946"/>
            <a:ext cx="1540800" cy="544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Bước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  <a:cs typeface="Abril Fatface" panose="02000503000000020003"/>
                <a:sym typeface="Abril Fatface" panose="02000503000000020003"/>
              </a:rPr>
              <a:t> 6</a:t>
            </a:r>
            <a:endParaRPr sz="2400" b="1" dirty="0">
              <a:solidFill>
                <a:schemeClr val="accent6">
                  <a:lumMod val="75000"/>
                </a:schemeClr>
              </a:solidFill>
              <a:ea typeface="Cambria" panose="02040503050406030204" pitchFamily="18" charset="0"/>
              <a:cs typeface="Abril Fatface" panose="02000503000000020003"/>
              <a:sym typeface="Abril Fatface" panose="02000503000000020003"/>
            </a:endParaRPr>
          </a:p>
        </p:txBody>
      </p:sp>
    </p:spTree>
    <p:extLst>
      <p:ext uri="{BB962C8B-B14F-4D97-AF65-F5344CB8AC3E}">
        <p14:creationId xmlns:p14="http://schemas.microsoft.com/office/powerpoint/2010/main" val="328658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7" grpId="0" animBg="1"/>
      <p:bldP spid="78" grpId="0"/>
      <p:bldP spid="79" grpId="0"/>
      <p:bldP spid="80" grpId="0"/>
      <p:bldP spid="81" grpId="0"/>
      <p:bldP spid="82" grpId="0"/>
      <p:bldP spid="85" grpId="0"/>
      <p:bldP spid="86" grpId="0"/>
      <p:bldP spid="87" grpId="0" animBg="1"/>
      <p:bldP spid="89" grpId="0" animBg="1"/>
      <p:bldP spid="91" grpId="0" animBg="1"/>
      <p:bldP spid="93" grpId="0" animBg="1"/>
      <p:bldP spid="95" grpId="0" animBg="1"/>
      <p:bldP spid="101" grpId="0"/>
      <p:bldP spid="102" grpId="0"/>
      <p:bldP spid="1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3062ED-72FF-D395-47E6-8FC91C1BA146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3DEA3BC-C6BA-CC74-F2F1-2FA847993EFE}"/>
              </a:ext>
            </a:extLst>
          </p:cNvPr>
          <p:cNvSpPr/>
          <p:nvPr/>
        </p:nvSpPr>
        <p:spPr>
          <a:xfrm>
            <a:off x="8904637" y="2459758"/>
            <a:ext cx="5419168" cy="3931921"/>
          </a:xfrm>
          <a:prstGeom prst="roundRect">
            <a:avLst/>
          </a:prstGeom>
          <a:noFill/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FD022BA0-887D-54A3-5A54-CDA97DD40CD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904636" y="3008855"/>
            <a:ext cx="45719" cy="2931003"/>
          </a:xfrm>
          <a:prstGeom prst="roundRect">
            <a:avLst>
              <a:gd name="adj" fmla="val 74222"/>
            </a:avLst>
          </a:prstGeom>
          <a:solidFill>
            <a:srgbClr val="FF954F"/>
          </a:solidFill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0ADF6F-4A3B-D6B9-B697-EA3081EE1604}"/>
              </a:ext>
            </a:extLst>
          </p:cNvPr>
          <p:cNvSpPr txBox="1"/>
          <p:nvPr/>
        </p:nvSpPr>
        <p:spPr>
          <a:xfrm>
            <a:off x="9321499" y="2876857"/>
            <a:ext cx="5002305" cy="340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nhên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nghỉ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8A8F6-943B-8C7C-F6FE-06F07369D52D}"/>
              </a:ext>
            </a:extLst>
          </p:cNvPr>
          <p:cNvSpPr txBox="1"/>
          <p:nvPr/>
        </p:nvSpPr>
        <p:spPr>
          <a:xfrm>
            <a:off x="8011386" y="849854"/>
            <a:ext cx="447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OrangeHRM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EEA58-C04E-5098-1897-8529E3DC1D58}"/>
              </a:ext>
            </a:extLst>
          </p:cNvPr>
          <p:cNvSpPr txBox="1"/>
          <p:nvPr/>
        </p:nvSpPr>
        <p:spPr>
          <a:xfrm>
            <a:off x="1419636" y="1878867"/>
            <a:ext cx="68230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Driven Testing Framework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D77F20CD-F4F3-40F0-5A7E-3CA7024BCCA6}"/>
              </a:ext>
            </a:extLst>
          </p:cNvPr>
          <p:cNvSpPr/>
          <p:nvPr/>
        </p:nvSpPr>
        <p:spPr>
          <a:xfrm>
            <a:off x="432995" y="3213072"/>
            <a:ext cx="1506071" cy="983870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A2BE75-5CE6-C1FD-5065-894CB0289E1D}"/>
              </a:ext>
            </a:extLst>
          </p:cNvPr>
          <p:cNvSpPr/>
          <p:nvPr/>
        </p:nvSpPr>
        <p:spPr>
          <a:xfrm>
            <a:off x="3584985" y="3463961"/>
            <a:ext cx="1932341" cy="4380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Driver Script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6F276D-36FF-767A-4D35-2D50D3702446}"/>
              </a:ext>
            </a:extLst>
          </p:cNvPr>
          <p:cNvCxnSpPr>
            <a:cxnSpLocks/>
          </p:cNvCxnSpPr>
          <p:nvPr/>
        </p:nvCxnSpPr>
        <p:spPr>
          <a:xfrm>
            <a:off x="1939067" y="3668357"/>
            <a:ext cx="1662056" cy="13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8F4746-86C7-17D8-BA2A-358347FDE615}"/>
              </a:ext>
            </a:extLst>
          </p:cNvPr>
          <p:cNvSpPr/>
          <p:nvPr/>
        </p:nvSpPr>
        <p:spPr>
          <a:xfrm>
            <a:off x="6704693" y="3213982"/>
            <a:ext cx="1863762" cy="9838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Test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320BE1-0ACF-ECF1-8B8A-5A47E821D48D}"/>
              </a:ext>
            </a:extLst>
          </p:cNvPr>
          <p:cNvCxnSpPr>
            <a:cxnSpLocks/>
          </p:cNvCxnSpPr>
          <p:nvPr/>
        </p:nvCxnSpPr>
        <p:spPr>
          <a:xfrm>
            <a:off x="5517326" y="3682031"/>
            <a:ext cx="11873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: Elbow 1054">
            <a:extLst>
              <a:ext uri="{FF2B5EF4-FFF2-40B4-BE49-F238E27FC236}">
                <a16:creationId xmlns:a16="http://schemas.microsoft.com/office/drawing/2014/main" id="{21BD7639-8A22-24F9-C9AC-ACD6B7FA51C0}"/>
              </a:ext>
            </a:extLst>
          </p:cNvPr>
          <p:cNvCxnSpPr>
            <a:cxnSpLocks/>
            <a:stCxn id="9" idx="2"/>
            <a:endCxn id="1056" idx="3"/>
          </p:cNvCxnSpPr>
          <p:nvPr/>
        </p:nvCxnSpPr>
        <p:spPr>
          <a:xfrm rot="5400000">
            <a:off x="6033821" y="3811801"/>
            <a:ext cx="1216702" cy="198880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6" name="Rectangle: Rounded Corners 1055">
            <a:extLst>
              <a:ext uri="{FF2B5EF4-FFF2-40B4-BE49-F238E27FC236}">
                <a16:creationId xmlns:a16="http://schemas.microsoft.com/office/drawing/2014/main" id="{05B09133-CF97-5FA0-AAD6-2F4F283644D4}"/>
              </a:ext>
            </a:extLst>
          </p:cNvPr>
          <p:cNvSpPr/>
          <p:nvPr/>
        </p:nvSpPr>
        <p:spPr>
          <a:xfrm>
            <a:off x="3601123" y="5008738"/>
            <a:ext cx="2046646" cy="8116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Result</a:t>
            </a: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(Compare)</a:t>
            </a:r>
          </a:p>
        </p:txBody>
      </p: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0698C472-34BF-1923-491B-BF9840474958}"/>
              </a:ext>
            </a:extLst>
          </p:cNvPr>
          <p:cNvCxnSpPr>
            <a:cxnSpLocks/>
            <a:endCxn id="1056" idx="1"/>
          </p:cNvCxnSpPr>
          <p:nvPr/>
        </p:nvCxnSpPr>
        <p:spPr>
          <a:xfrm>
            <a:off x="1110044" y="4165387"/>
            <a:ext cx="2491079" cy="1249167"/>
          </a:xfrm>
          <a:prstGeom prst="bentConnector3">
            <a:avLst>
              <a:gd name="adj1" fmla="val 206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5A2CCF3D-7506-895A-3AC8-D17FA901C4CC}"/>
              </a:ext>
            </a:extLst>
          </p:cNvPr>
          <p:cNvSpPr txBox="1"/>
          <p:nvPr/>
        </p:nvSpPr>
        <p:spPr>
          <a:xfrm>
            <a:off x="2372061" y="3251249"/>
            <a:ext cx="107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8E86D05-B417-6370-6262-2DB287D77D3E}"/>
              </a:ext>
            </a:extLst>
          </p:cNvPr>
          <p:cNvSpPr txBox="1"/>
          <p:nvPr/>
        </p:nvSpPr>
        <p:spPr>
          <a:xfrm>
            <a:off x="2323648" y="3638705"/>
            <a:ext cx="107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097940EF-CA0C-B623-ECFD-2CDABCF82391}"/>
              </a:ext>
            </a:extLst>
          </p:cNvPr>
          <p:cNvSpPr txBox="1"/>
          <p:nvPr/>
        </p:nvSpPr>
        <p:spPr>
          <a:xfrm>
            <a:off x="6239435" y="5016131"/>
            <a:ext cx="107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Actual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CB7A38CA-F88C-EA90-6F98-34FA137C4065}"/>
              </a:ext>
            </a:extLst>
          </p:cNvPr>
          <p:cNvSpPr txBox="1"/>
          <p:nvPr/>
        </p:nvSpPr>
        <p:spPr>
          <a:xfrm>
            <a:off x="6208500" y="5403993"/>
            <a:ext cx="107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82012339-C596-70CC-E983-AC6DFBB6894D}"/>
              </a:ext>
            </a:extLst>
          </p:cNvPr>
          <p:cNvSpPr txBox="1"/>
          <p:nvPr/>
        </p:nvSpPr>
        <p:spPr>
          <a:xfrm>
            <a:off x="1812674" y="5016132"/>
            <a:ext cx="1467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Expected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C233E1AA-BDBC-BD9E-2A0F-99991D3BC4C2}"/>
              </a:ext>
            </a:extLst>
          </p:cNvPr>
          <p:cNvSpPr txBox="1"/>
          <p:nvPr/>
        </p:nvSpPr>
        <p:spPr>
          <a:xfrm>
            <a:off x="2036558" y="5441703"/>
            <a:ext cx="1467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8B05B7-8FD0-2592-6BEC-2BA9A5C88406}"/>
              </a:ext>
            </a:extLst>
          </p:cNvPr>
          <p:cNvSpPr txBox="1"/>
          <p:nvPr/>
        </p:nvSpPr>
        <p:spPr>
          <a:xfrm>
            <a:off x="237447" y="331318"/>
            <a:ext cx="36898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550F4-B89F-82E0-CB45-493B1AC81A01}"/>
              </a:ext>
            </a:extLst>
          </p:cNvPr>
          <p:cNvSpPr txBox="1"/>
          <p:nvPr/>
        </p:nvSpPr>
        <p:spPr>
          <a:xfrm>
            <a:off x="698209" y="2038597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00B04-051D-A421-EDDF-E11392FEEE2B}"/>
              </a:ext>
            </a:extLst>
          </p:cNvPr>
          <p:cNvSpPr txBox="1"/>
          <p:nvPr/>
        </p:nvSpPr>
        <p:spPr>
          <a:xfrm>
            <a:off x="753140" y="4559540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D3AAA2-9F2D-23D1-0E24-8A2E2319A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47" y="5048578"/>
            <a:ext cx="7240761" cy="2062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579FD6A-E432-92EB-3AF6-744E0207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06" y="2526542"/>
            <a:ext cx="4290060" cy="1295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94812CA-2532-E0FC-C819-FD25E1D2C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35" y="2038597"/>
            <a:ext cx="379174" cy="37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0BA9096-9593-B8E6-9364-F0E799030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35" y="4470612"/>
            <a:ext cx="489038" cy="48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4219E8-4F02-0EC5-C266-B34D7BC670CD}"/>
              </a:ext>
            </a:extLst>
          </p:cNvPr>
          <p:cNvSpPr txBox="1"/>
          <p:nvPr/>
        </p:nvSpPr>
        <p:spPr>
          <a:xfrm>
            <a:off x="7500502" y="423350"/>
            <a:ext cx="7025726" cy="7694414"/>
          </a:xfrm>
          <a:prstGeom prst="rect">
            <a:avLst/>
          </a:prstGeom>
          <a:solidFill>
            <a:schemeClr val="accent2">
              <a:lumMod val="20000"/>
              <a:lumOff val="80000"/>
              <a:alpha val="32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950" dirty="0">
                <a:solidFill>
                  <a:srgbClr val="646464"/>
                </a:solidFill>
                <a:effectLst/>
                <a:latin typeface="Consolas" panose="020B0609020204030204" pitchFamily="49" charset="0"/>
              </a:rPr>
              <a:t>@Test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(dataProvider =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5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loginData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testLogin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(String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tcID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 </a:t>
            </a:r>
            <a:r>
              <a:rPr lang="en-US" sz="9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 </a:t>
            </a:r>
            <a:r>
              <a:rPr lang="en-US" sz="9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expRes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String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expMsg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rowIndex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totalTestCases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actualRes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"FAIL"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actualMsg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.manage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deleteAllCookies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"http://localhost/orangehrm/web/index.php/auth/login"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WebElement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txtUser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.until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ExpectedConditions.</a:t>
            </a:r>
            <a:r>
              <a:rPr lang="en-US" sz="95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visibilityOfElementLocated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(By.</a:t>
            </a:r>
            <a:r>
              <a:rPr lang="en-US" sz="95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WebElement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txtPass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.findElement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(By.</a:t>
            </a:r>
            <a:r>
              <a:rPr lang="en-US" sz="95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WebElement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btnLogin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.findElement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By.</a:t>
            </a:r>
            <a:r>
              <a:rPr lang="en-US" sz="95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"//button[@type='submit']"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buNone/>
            </a:pP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txtUser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.sendKeys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txtPass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.sendKeys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btnLogin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.click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buNone/>
            </a:pP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Thread.</a:t>
            </a:r>
            <a:r>
              <a:rPr lang="en-US" sz="95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(2000); </a:t>
            </a:r>
          </a:p>
          <a:p>
            <a:pPr marL="0" marR="0">
              <a:buNone/>
            </a:pP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.getCurrentUrl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().contains(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"dashboard"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actualRes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"PASS"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actualMsg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"Dashboard"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List&lt;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WebElement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9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.findElements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By.</a:t>
            </a:r>
            <a:r>
              <a:rPr lang="en-US" sz="95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"//span[contains(@class,'oxd-input-field-error-message')] | //div[@role='alert']"</a:t>
            </a: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buNone/>
            </a:pP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.isEmpty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actualMsg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.stream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.map(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WebElement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getText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.map(String::trim)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.filter(</a:t>
            </a:r>
            <a:r>
              <a:rPr lang="en-US" sz="9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-&gt; !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.isEmpty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.distinct()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.collect(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Collectors.</a:t>
            </a:r>
            <a:r>
              <a:rPr lang="en-US" sz="95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joining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actualMsg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"Error message not found"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(Exception </a:t>
            </a:r>
            <a:r>
              <a:rPr lang="en-US" sz="95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actualMsg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"Exception: 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.getMessage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().split(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)[0];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.getRow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rowIndex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.createCell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lastCol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setCellValue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actualRes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.createCell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lastCol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+ 1).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setCellValue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actualMsg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95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isMatch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actualRes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.equalsIgnoreCase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expRes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95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isMatch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5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matched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marR="0">
              <a:buNone/>
            </a:pP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.createCell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lastCol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+ 2).</a:t>
            </a: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setCellValue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isMatch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"PASS"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"FAIL"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endParaRPr lang="en-US" sz="9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95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lang="en-US" sz="95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assertTrue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isMatch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"TC 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95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tcID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US" sz="95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không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khớp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mong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đợi</a:t>
            </a:r>
            <a:r>
              <a:rPr lang="en-US" sz="95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en-US" sz="9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3371C-33E9-F901-5FEC-1BABDA330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43B928-81A3-EC5E-D4CD-BE31B04DA872}"/>
              </a:ext>
            </a:extLst>
          </p:cNvPr>
          <p:cNvSpPr txBox="1"/>
          <p:nvPr/>
        </p:nvSpPr>
        <p:spPr>
          <a:xfrm>
            <a:off x="5454906" y="39869"/>
            <a:ext cx="54856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CBE2C-AC66-B2E5-9898-D15728CD8E37}"/>
              </a:ext>
            </a:extLst>
          </p:cNvPr>
          <p:cNvSpPr txBox="1"/>
          <p:nvPr/>
        </p:nvSpPr>
        <p:spPr>
          <a:xfrm>
            <a:off x="753140" y="517807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ECAC35-57FC-12FB-385E-0B87590711D0}"/>
              </a:ext>
            </a:extLst>
          </p:cNvPr>
          <p:cNvSpPr txBox="1"/>
          <p:nvPr/>
        </p:nvSpPr>
        <p:spPr>
          <a:xfrm>
            <a:off x="808071" y="3714690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0A48552-FE0C-6D39-DBAF-59A7B45CA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538743"/>
            <a:ext cx="379174" cy="37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6B349B7-3729-7E0B-2A5E-4393CF8F5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3625762"/>
            <a:ext cx="489038" cy="48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19E825-5D90-4EB4-8429-B509E3172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6390" y="837369"/>
            <a:ext cx="7624137" cy="28112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9E265A-55F0-176E-7D00-52559F18A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7590" y="4114800"/>
            <a:ext cx="10688395" cy="37238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02977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C46C8-21D6-259D-1668-3F65D9C5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31AA96-7BF8-5014-6193-E985FA65A464}"/>
              </a:ext>
            </a:extLst>
          </p:cNvPr>
          <p:cNvSpPr txBox="1"/>
          <p:nvPr/>
        </p:nvSpPr>
        <p:spPr>
          <a:xfrm>
            <a:off x="4822187" y="89877"/>
            <a:ext cx="54856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8E501-4AE0-3CC6-2C74-4ECB46C500A5}"/>
              </a:ext>
            </a:extLst>
          </p:cNvPr>
          <p:cNvSpPr txBox="1"/>
          <p:nvPr/>
        </p:nvSpPr>
        <p:spPr>
          <a:xfrm>
            <a:off x="753140" y="517807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C4CAC-38DF-33F0-5F1D-38E0D6211D77}"/>
              </a:ext>
            </a:extLst>
          </p:cNvPr>
          <p:cNvSpPr txBox="1"/>
          <p:nvPr/>
        </p:nvSpPr>
        <p:spPr>
          <a:xfrm>
            <a:off x="808071" y="3714690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3E6A459-02D4-38DE-AA44-AD0E0BE0E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538743"/>
            <a:ext cx="379174" cy="37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62F5BFB-E536-C1ED-94D7-9B6BE72A2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3625762"/>
            <a:ext cx="489038" cy="48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BF0BE6-0802-6CF2-10A4-2CB51A2B3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649" y="4403015"/>
            <a:ext cx="8602980" cy="3124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32083E-D1A7-D83F-2AC6-E76E885CA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7180" y="1119285"/>
            <a:ext cx="5684520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94687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E73F3-EB71-19E4-8BB4-11AD9337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EA267E-B01C-EAC2-03B0-DE84F454D9D9}"/>
              </a:ext>
            </a:extLst>
          </p:cNvPr>
          <p:cNvSpPr txBox="1"/>
          <p:nvPr/>
        </p:nvSpPr>
        <p:spPr>
          <a:xfrm>
            <a:off x="5088404" y="377317"/>
            <a:ext cx="54856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8FE1A-E465-23BA-CF9A-189F6E890190}"/>
              </a:ext>
            </a:extLst>
          </p:cNvPr>
          <p:cNvSpPr txBox="1"/>
          <p:nvPr/>
        </p:nvSpPr>
        <p:spPr>
          <a:xfrm>
            <a:off x="753140" y="1236314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45C5CB-7368-EF56-9B1F-CFA6C7E025DD}"/>
              </a:ext>
            </a:extLst>
          </p:cNvPr>
          <p:cNvSpPr txBox="1"/>
          <p:nvPr/>
        </p:nvSpPr>
        <p:spPr>
          <a:xfrm>
            <a:off x="808071" y="3634759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A57EA03-31EA-5E18-0711-05E6F8474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1257250"/>
            <a:ext cx="379174" cy="37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55E9F20-E46E-48A9-7BFF-41884C3A9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3545831"/>
            <a:ext cx="489038" cy="48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BFE5D0-C98B-D44E-8187-3BE91D17B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84" y="1953262"/>
            <a:ext cx="11360831" cy="11646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058D84-9363-C3BF-AC57-CAB6FE941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85" y="4551762"/>
            <a:ext cx="13404399" cy="19111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47451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B769-5765-099F-3143-2D168522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EC38EA-60F0-6EEB-3F77-29968C2079BB}"/>
              </a:ext>
            </a:extLst>
          </p:cNvPr>
          <p:cNvSpPr txBox="1"/>
          <p:nvPr/>
        </p:nvSpPr>
        <p:spPr>
          <a:xfrm>
            <a:off x="4903210" y="170047"/>
            <a:ext cx="54856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nghỉ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endParaRPr lang="en-US" sz="2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DFC8F1-28D0-BB84-FA62-C90A8BAE2B42}"/>
              </a:ext>
            </a:extLst>
          </p:cNvPr>
          <p:cNvSpPr txBox="1"/>
          <p:nvPr/>
        </p:nvSpPr>
        <p:spPr>
          <a:xfrm>
            <a:off x="753140" y="1236314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1706F-8CFE-8451-C0F8-435D3BF3CB9D}"/>
              </a:ext>
            </a:extLst>
          </p:cNvPr>
          <p:cNvSpPr txBox="1"/>
          <p:nvPr/>
        </p:nvSpPr>
        <p:spPr>
          <a:xfrm>
            <a:off x="808072" y="3895713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3080CA6-72B6-6238-F440-001B2F77A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1257250"/>
            <a:ext cx="379174" cy="37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B1C35DF-1BE4-1AB3-C5DB-0E252197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7" y="3806785"/>
            <a:ext cx="489038" cy="48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E4EA9B-4E91-3368-FAB7-47CDD4763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48" y="4598646"/>
            <a:ext cx="14206904" cy="23392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FBB9EF-9918-511D-D780-AA4079801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8776" y="1897379"/>
            <a:ext cx="11190773" cy="16484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84659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37BE-8724-11DA-43EC-82AC69A2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E06C3C-5B69-07D1-DED2-7D1984EBA482}"/>
              </a:ext>
            </a:extLst>
          </p:cNvPr>
          <p:cNvSpPr txBox="1"/>
          <p:nvPr/>
        </p:nvSpPr>
        <p:spPr>
          <a:xfrm>
            <a:off x="4443013" y="246221"/>
            <a:ext cx="650942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endParaRPr lang="en-US" sz="2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6B67E-1028-717C-46C1-436C4C242828}"/>
              </a:ext>
            </a:extLst>
          </p:cNvPr>
          <p:cNvSpPr txBox="1"/>
          <p:nvPr/>
        </p:nvSpPr>
        <p:spPr>
          <a:xfrm>
            <a:off x="753140" y="1236314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8A2FB-C407-EB21-D7D9-02F4CE153F97}"/>
              </a:ext>
            </a:extLst>
          </p:cNvPr>
          <p:cNvSpPr txBox="1"/>
          <p:nvPr/>
        </p:nvSpPr>
        <p:spPr>
          <a:xfrm>
            <a:off x="808072" y="3895713"/>
            <a:ext cx="36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822B071-6D83-8806-EABA-17F3892C3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1257250"/>
            <a:ext cx="379174" cy="37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DAD6574-D969-79A3-53B2-4A63CA682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7" y="3806785"/>
            <a:ext cx="489038" cy="48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D38DAE-0D5A-1FD0-A639-C87CC770D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520" y="1921504"/>
            <a:ext cx="10150877" cy="1709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E6B9CF-40A2-0B9A-46AB-294E65A1A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72" y="4560582"/>
            <a:ext cx="12633960" cy="2514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09452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16D358-87D7-39CD-69FD-E6357D30A91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B4718-C3C2-5CE6-B493-C9682C8FF3F4}"/>
              </a:ext>
            </a:extLst>
          </p:cNvPr>
          <p:cNvSpPr txBox="1"/>
          <p:nvPr/>
        </p:nvSpPr>
        <p:spPr>
          <a:xfrm>
            <a:off x="8011386" y="849854"/>
            <a:ext cx="447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ABE616-F12A-8DB8-1554-0B26AE6DE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902" y="3115244"/>
            <a:ext cx="11318596" cy="3403494"/>
          </a:xfrm>
          <a:prstGeom prst="rect">
            <a:avLst/>
          </a:prstGeom>
          <a:pattFill prst="pct5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effectLst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A33FAC4-4C1C-6860-4D67-A521494E7E09}"/>
              </a:ext>
            </a:extLst>
          </p:cNvPr>
          <p:cNvSpPr txBox="1"/>
          <p:nvPr/>
        </p:nvSpPr>
        <p:spPr>
          <a:xfrm>
            <a:off x="591572" y="1034520"/>
            <a:ext cx="6828242" cy="1160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Báo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cáo</a:t>
            </a: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kết</a:t>
            </a: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quả</a:t>
            </a: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kiểm</a:t>
            </a: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thử</a:t>
            </a:r>
            <a:endParaRPr lang="en-US" sz="3800" dirty="0">
              <a:solidFill>
                <a:srgbClr val="16458C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Cambria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F848C1-FC8D-76EF-332E-ED6E253D9D21}"/>
              </a:ext>
            </a:extLst>
          </p:cNvPr>
          <p:cNvCxnSpPr>
            <a:cxnSpLocks/>
          </p:cNvCxnSpPr>
          <p:nvPr/>
        </p:nvCxnSpPr>
        <p:spPr>
          <a:xfrm>
            <a:off x="259023" y="1584817"/>
            <a:ext cx="0" cy="642601"/>
          </a:xfrm>
          <a:prstGeom prst="line">
            <a:avLst/>
          </a:prstGeom>
          <a:ln w="76200">
            <a:solidFill>
              <a:srgbClr val="FCB6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00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4E0C8-1189-E413-68A2-76756EFA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4920BB-9BE4-4A5D-D911-0389C5340B6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29BD5-1A88-966F-F047-EC30F51985C0}"/>
              </a:ext>
            </a:extLst>
          </p:cNvPr>
          <p:cNvSpPr txBox="1"/>
          <p:nvPr/>
        </p:nvSpPr>
        <p:spPr>
          <a:xfrm>
            <a:off x="8011386" y="849854"/>
            <a:ext cx="447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20342E-0A2C-F067-9953-5B5A95164DB1}"/>
              </a:ext>
            </a:extLst>
          </p:cNvPr>
          <p:cNvSpPr txBox="1"/>
          <p:nvPr/>
        </p:nvSpPr>
        <p:spPr>
          <a:xfrm>
            <a:off x="591572" y="1034520"/>
            <a:ext cx="6828242" cy="1160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Đánh</a:t>
            </a: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giá</a:t>
            </a: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hiệu</a:t>
            </a:r>
            <a:r>
              <a:rPr lang="en-US" sz="3800" dirty="0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 </a:t>
            </a:r>
            <a:r>
              <a:rPr lang="en-US" sz="3800" dirty="0" err="1">
                <a:solidFill>
                  <a:srgbClr val="16458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Cambria"/>
              </a:rPr>
              <a:t>quả</a:t>
            </a:r>
            <a:endParaRPr lang="en-US" sz="3800" dirty="0">
              <a:solidFill>
                <a:srgbClr val="16458C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Cambria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CF5ECE-FB38-BBFE-9CE8-CB49ACE5EEB5}"/>
              </a:ext>
            </a:extLst>
          </p:cNvPr>
          <p:cNvCxnSpPr>
            <a:cxnSpLocks/>
          </p:cNvCxnSpPr>
          <p:nvPr/>
        </p:nvCxnSpPr>
        <p:spPr>
          <a:xfrm>
            <a:off x="259023" y="1584817"/>
            <a:ext cx="0" cy="642601"/>
          </a:xfrm>
          <a:prstGeom prst="line">
            <a:avLst/>
          </a:prstGeom>
          <a:ln w="76200">
            <a:solidFill>
              <a:srgbClr val="FCB6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7E7811-6A0A-D487-16A1-734731DBD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472666"/>
              </p:ext>
            </p:extLst>
          </p:nvPr>
        </p:nvGraphicFramePr>
        <p:xfrm>
          <a:off x="591572" y="2410706"/>
          <a:ext cx="13105356" cy="496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594">
                  <a:extLst>
                    <a:ext uri="{9D8B030D-6E8A-4147-A177-3AD203B41FA5}">
                      <a16:colId xmlns:a16="http://schemas.microsoft.com/office/drawing/2014/main" val="3087371688"/>
                    </a:ext>
                  </a:extLst>
                </a:gridCol>
                <a:gridCol w="4312501">
                  <a:extLst>
                    <a:ext uri="{9D8B030D-6E8A-4147-A177-3AD203B41FA5}">
                      <a16:colId xmlns:a16="http://schemas.microsoft.com/office/drawing/2014/main" val="1727813081"/>
                    </a:ext>
                  </a:extLst>
                </a:gridCol>
                <a:gridCol w="6007261">
                  <a:extLst>
                    <a:ext uri="{9D8B030D-6E8A-4147-A177-3AD203B41FA5}">
                      <a16:colId xmlns:a16="http://schemas.microsoft.com/office/drawing/2014/main" val="1730373171"/>
                    </a:ext>
                  </a:extLst>
                </a:gridCol>
              </a:tblGrid>
              <a:tr h="45570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Tiêu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chí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thử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thủ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thử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034209"/>
                  </a:ext>
                </a:extLst>
              </a:tr>
              <a:tr h="45570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Thời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 240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phút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8.27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phút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 ~9.73 s/ testcase)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286163"/>
                  </a:ext>
                </a:extLst>
              </a:tr>
              <a:tr h="45570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Mức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xác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sót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do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tác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thủ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 sz="2000" dirty="0"/>
                        <a:t>Kết quả ổn định và chính xác hơn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692417"/>
                  </a:ext>
                </a:extLst>
              </a:tr>
              <a:tr h="4557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Khả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Phụ thuộc vào người kiểm thử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thể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chạy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nhiều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5008142"/>
                  </a:ext>
                </a:extLst>
              </a:tr>
              <a:tr h="78655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Nhập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thủ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đọc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từ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Excel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bằng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DataProvider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410565"/>
                  </a:ext>
                </a:extLst>
              </a:tr>
              <a:tr h="78655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Bảo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trì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Khó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cập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thay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chỉnh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sửa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mở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rộng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229749"/>
                  </a:ext>
                </a:extLst>
              </a:tr>
              <a:tr h="786557">
                <a:tc>
                  <a:txBody>
                    <a:bodyPr/>
                    <a:lstStyle/>
                    <a:p>
                      <a:pPr algn="l"/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 lượng báo cáo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thủ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xuất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PASS/FAIL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993621"/>
                  </a:ext>
                </a:extLst>
              </a:tr>
              <a:tr h="786557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Khả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Khó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thể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dùng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lại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nhiều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23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318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33A604-0877-2BBE-4AA5-30CA6C55A230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5E094-D3FD-F139-3902-756D13630E4D}"/>
              </a:ext>
            </a:extLst>
          </p:cNvPr>
          <p:cNvSpPr txBox="1"/>
          <p:nvPr/>
        </p:nvSpPr>
        <p:spPr>
          <a:xfrm>
            <a:off x="8011386" y="849854"/>
            <a:ext cx="447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C615E-32D7-4218-D95D-4A289E136383}"/>
              </a:ext>
            </a:extLst>
          </p:cNvPr>
          <p:cNvSpPr txBox="1"/>
          <p:nvPr/>
        </p:nvSpPr>
        <p:spPr>
          <a:xfrm>
            <a:off x="1065007" y="2069040"/>
            <a:ext cx="12500385" cy="4794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Kết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hợp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mô hình POM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vào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framework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 để tăng khả năng tái sử dụng, dễ quản lý và bảo trì mã nguồn.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Mở rộng kiểm thử cho các chức năng phân quyền và quy trình nghiệp vụ như phê duyệt nghỉ phép.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Tích hợp </a:t>
            </a:r>
            <a:r>
              <a:rPr lang="vi-VN" sz="2800" dirty="0" err="1">
                <a:solidFill>
                  <a:schemeClr val="accent1">
                    <a:lumMod val="75000"/>
                  </a:schemeClr>
                </a:solidFill>
              </a:rPr>
              <a:t>Allure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vi-VN" sz="2800" dirty="0" err="1">
                <a:solidFill>
                  <a:schemeClr val="accent1">
                    <a:lumMod val="75000"/>
                  </a:schemeClr>
                </a:solidFill>
              </a:rPr>
              <a:t>Report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 và CI/CD để tự động tạo báo cáo và chạy kiểm thử khi hệ thống cập nhật.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 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Nghiên cứu thêm các công cụ kiểm thử hiện đại như </a:t>
            </a:r>
            <a:r>
              <a:rPr lang="vi-VN" sz="2800" dirty="0" err="1">
                <a:solidFill>
                  <a:schemeClr val="accent1">
                    <a:lumMod val="75000"/>
                  </a:schemeClr>
                </a:solidFill>
              </a:rPr>
              <a:t>Katalon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vi-VN" sz="2800" dirty="0" err="1">
                <a:solidFill>
                  <a:schemeClr val="accent1">
                    <a:lumMod val="75000"/>
                  </a:schemeClr>
                </a:solidFill>
              </a:rPr>
              <a:t>Cypress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vi-VN" sz="2800" dirty="0" err="1">
                <a:solidFill>
                  <a:schemeClr val="accent1">
                    <a:lumMod val="75000"/>
                  </a:schemeClr>
                </a:solidFill>
              </a:rPr>
              <a:t>Playwright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 và </a:t>
            </a:r>
            <a:r>
              <a:rPr lang="vi-VN" sz="2800" dirty="0" err="1">
                <a:solidFill>
                  <a:schemeClr val="accent1">
                    <a:lumMod val="75000"/>
                  </a:schemeClr>
                </a:solidFill>
              </a:rPr>
              <a:t>Appium</a:t>
            </a:r>
            <a:r>
              <a:rPr lang="vi-VN" sz="2800" dirty="0">
                <a:solidFill>
                  <a:schemeClr val="accent1">
                    <a:lumMod val="75000"/>
                  </a:schemeClr>
                </a:solidFill>
              </a:rPr>
              <a:t> để nâng cao kỹ năng và mở rộng phạm vi kiểm thử.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739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CBCB71-C6B5-0438-2177-FFAF65F848F1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1319D-C4BD-6035-FCEA-42B9E65B2295}"/>
              </a:ext>
            </a:extLst>
          </p:cNvPr>
          <p:cNvSpPr txBox="1"/>
          <p:nvPr/>
        </p:nvSpPr>
        <p:spPr>
          <a:xfrm>
            <a:off x="774550" y="2807746"/>
            <a:ext cx="13081299" cy="312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CẢM ƠN THẦY CÔ VÀ CÁC BẠN ĐÃ LẮNG NGHE!</a:t>
            </a:r>
          </a:p>
        </p:txBody>
      </p:sp>
    </p:spTree>
    <p:extLst>
      <p:ext uri="{BB962C8B-B14F-4D97-AF65-F5344CB8AC3E}">
        <p14:creationId xmlns:p14="http://schemas.microsoft.com/office/powerpoint/2010/main" val="121809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6.7655905511811,&quot;left&quot;:56.97188976377953,&quot;top&quot;:172.4344094488189,&quot;width&quot;:1035.656299212598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1057</Words>
  <Application>Microsoft Office PowerPoint</Application>
  <PresentationFormat>Custom</PresentationFormat>
  <Paragraphs>176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Cambria</vt:lpstr>
      <vt:lpstr>Calibri</vt:lpstr>
      <vt:lpstr>Arial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Phương Phạm</dc:creator>
  <cp:lastModifiedBy>Phương Phạm</cp:lastModifiedBy>
  <cp:revision>16</cp:revision>
  <dcterms:created xsi:type="dcterms:W3CDTF">2025-12-09T13:28:00Z</dcterms:created>
  <dcterms:modified xsi:type="dcterms:W3CDTF">2026-05-16T16:41:27Z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4E13288727AB4174BC620C479510393B_12</vt:lpwstr>
  </property>
  <property fmtid="{D5CDD505-2E9C-101B-9397-08002B2CF9AE}" pid="3" name="KSOProductBuildVer">
    <vt:lpwstr>1033-12.2.0.23155</vt:lpwstr>
  </property>
</Properties>
</file>